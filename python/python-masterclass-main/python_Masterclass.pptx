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7" r:id="rId2"/>
    <p:sldId id="258" r:id="rId3"/>
    <p:sldId id="262" r:id="rId4"/>
    <p:sldId id="259" r:id="rId5"/>
    <p:sldId id="260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7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6BFC4-9F5F-D002-2B64-7EFF7E7E2B42}" v="108" dt="2026-01-05T15:48:24.536"/>
    <p1510:client id="{50F44AE4-C37B-9BEA-EFE6-DEE630E8FA2A}" v="43" dt="2026-01-06T16:42:15.546"/>
    <p1510:client id="{A89EFEAF-05B4-367A-8802-43A8734C3097}" v="735" dt="2026-01-07T13:42:26.608"/>
    <p1510:client id="{B6A2440D-89C2-5121-C366-66E496E88E55}" v="84" dt="2026-01-06T08:22:13.049"/>
    <p1510:client id="{CC23AA99-537B-F74A-E618-7793E16A538B}" v="2" dt="2026-01-06T11:52:15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5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7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8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2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5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1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0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1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8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6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67997"/>
            <a:ext cx="9144000" cy="1541966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rgbClr val="3670A1"/>
                </a:solidFill>
                <a:latin typeface="Tw Cen MT"/>
                <a:ea typeface="+mj-lt"/>
                <a:cs typeface="+mj-lt"/>
              </a:rPr>
              <a:t>Python</a:t>
            </a:r>
            <a:endParaRPr lang="en-US" sz="9600" dirty="0">
              <a:solidFill>
                <a:srgbClr val="3670A1"/>
              </a:solidFill>
              <a:latin typeface="Tw Cen M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5DE19-4C23-A7D3-FE6E-FA6F36BB41EB}"/>
              </a:ext>
            </a:extLst>
          </p:cNvPr>
          <p:cNvSpPr txBox="1">
            <a:spLocks/>
          </p:cNvSpPr>
          <p:nvPr/>
        </p:nvSpPr>
        <p:spPr>
          <a:xfrm>
            <a:off x="1527717" y="3514299"/>
            <a:ext cx="9144000" cy="14304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Tw Cen MT"/>
                <a:ea typeface="+mj-lt"/>
                <a:cs typeface="+mj-lt"/>
              </a:rPr>
              <a:t>Masterclass</a:t>
            </a:r>
            <a:endParaRPr lang="en-US" dirty="0"/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01EDAF7E-EBD0-9616-F397-FE4C87DE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9" y="4151813"/>
            <a:ext cx="2592029" cy="23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8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E969C-AA6D-191F-1F91-1804E1F3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DED1-9206-8517-7AE9-35DAB4B75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  <a:ea typeface="+mj-lt"/>
                <a:cs typeface="+mj-lt"/>
              </a:rPr>
              <a:t>Python</a:t>
            </a:r>
            <a:endParaRPr lang="en-US" sz="5400" dirty="0">
              <a:solidFill>
                <a:srgbClr val="3670A1"/>
              </a:solidFill>
              <a:latin typeface="Tw Cen M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31E4E9-C2C9-71EA-3203-C0AD75702B05}"/>
              </a:ext>
            </a:extLst>
          </p:cNvPr>
          <p:cNvSpPr txBox="1">
            <a:spLocks/>
          </p:cNvSpPr>
          <p:nvPr/>
        </p:nvSpPr>
        <p:spPr>
          <a:xfrm>
            <a:off x="894671" y="2130976"/>
            <a:ext cx="9144000" cy="19579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/>
              <a:buChar char="•"/>
            </a:pPr>
            <a:r>
              <a:rPr lang="en-US" sz="2400" dirty="0">
                <a:latin typeface="Tw Cen MT"/>
              </a:rPr>
              <a:t>What Python IS in Data Engineering?</a:t>
            </a:r>
            <a:endParaRPr lang="en-US" dirty="0">
              <a:latin typeface="Tw Cen MT"/>
            </a:endParaRPr>
          </a:p>
          <a:p>
            <a:pPr marL="342900" indent="-342900" algn="l">
              <a:buFont typeface="Arial"/>
              <a:buChar char="•"/>
            </a:pPr>
            <a:endParaRPr lang="en-US" sz="2400" dirty="0">
              <a:latin typeface="Tw Cen MT"/>
              <a:ea typeface="+mj-lt"/>
              <a:cs typeface="+mj-lt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dirty="0">
                <a:latin typeface="Tw Cen MT"/>
                <a:ea typeface="+mj-lt"/>
                <a:cs typeface="+mj-lt"/>
              </a:rPr>
              <a:t>What Python is NOT?</a:t>
            </a:r>
            <a:endParaRPr lang="en-US" dirty="0">
              <a:latin typeface="Tw Cen MT"/>
            </a:endParaRPr>
          </a:p>
          <a:p>
            <a:pPr marL="342900" indent="-342900" algn="l">
              <a:buFont typeface="Arial"/>
              <a:buChar char="•"/>
            </a:pPr>
            <a:endParaRPr lang="en-US" sz="2400" dirty="0">
              <a:latin typeface="Tw Cen MT"/>
              <a:ea typeface="+mj-lt"/>
              <a:cs typeface="+mj-lt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w Cen MT"/>
                <a:ea typeface="+mj-lt"/>
                <a:cs typeface="+mj-lt"/>
              </a:rPr>
              <a:t>Where Python Sits in the Data Stack</a:t>
            </a:r>
            <a:r>
              <a:rPr lang="en-US" sz="2400" dirty="0">
                <a:latin typeface="Tw Cen MT"/>
                <a:ea typeface="+mj-lt"/>
                <a:cs typeface="+mj-lt"/>
              </a:rPr>
              <a:t>?</a:t>
            </a:r>
          </a:p>
          <a:p>
            <a:pPr marL="342900" indent="-342900" algn="l">
              <a:buFont typeface="Arial"/>
              <a:buChar char="•"/>
            </a:pPr>
            <a:endParaRPr lang="en-US" sz="2400" dirty="0">
              <a:latin typeface="Tw Cen MT"/>
            </a:endParaRP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E415ADF2-F1AF-1180-0125-0C358F48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C15C-6065-8654-D058-66E174EB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C5C2-5005-D65A-2B9D-94DD898B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  <a:ea typeface="+mj-lt"/>
                <a:cs typeface="+mj-lt"/>
              </a:rPr>
              <a:t>Where Python Sits</a:t>
            </a:r>
            <a:endParaRPr lang="en-US" sz="5400" dirty="0">
              <a:solidFill>
                <a:srgbClr val="3670A1"/>
              </a:solidFill>
              <a:latin typeface="Tw Cen MT"/>
            </a:endParaRP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A3BDF2EC-3951-D8F5-AF4C-BB4D8B32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F98B73-DCBB-B503-06C6-FA1434984B39}"/>
              </a:ext>
            </a:extLst>
          </p:cNvPr>
          <p:cNvSpPr/>
          <p:nvPr/>
        </p:nvSpPr>
        <p:spPr>
          <a:xfrm>
            <a:off x="713137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Source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6C9A20-EF65-AE84-69A3-8342C04235D1}"/>
              </a:ext>
            </a:extLst>
          </p:cNvPr>
          <p:cNvSpPr/>
          <p:nvPr/>
        </p:nvSpPr>
        <p:spPr>
          <a:xfrm>
            <a:off x="2972242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Python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E16956-1C25-794D-E4B5-A1A1603B2AB8}"/>
              </a:ext>
            </a:extLst>
          </p:cNvPr>
          <p:cNvSpPr/>
          <p:nvPr/>
        </p:nvSpPr>
        <p:spPr>
          <a:xfrm>
            <a:off x="5204454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Storage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EC27CA-9DBA-EB2A-FB0C-9945EEB50672}"/>
              </a:ext>
            </a:extLst>
          </p:cNvPr>
          <p:cNvSpPr/>
          <p:nvPr/>
        </p:nvSpPr>
        <p:spPr>
          <a:xfrm>
            <a:off x="7463559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Analytics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E59980-56B0-F641-C6BC-F03790231E2F}"/>
              </a:ext>
            </a:extLst>
          </p:cNvPr>
          <p:cNvSpPr/>
          <p:nvPr/>
        </p:nvSpPr>
        <p:spPr>
          <a:xfrm>
            <a:off x="9704736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BI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E4E180-4023-554E-8C0C-5B1B7B5B1F6B}"/>
              </a:ext>
            </a:extLst>
          </p:cNvPr>
          <p:cNvCxnSpPr/>
          <p:nvPr/>
        </p:nvCxnSpPr>
        <p:spPr>
          <a:xfrm>
            <a:off x="2551466" y="3463685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877889-001C-30A7-5D28-3E81CC0F8A7E}"/>
              </a:ext>
            </a:extLst>
          </p:cNvPr>
          <p:cNvCxnSpPr>
            <a:cxnSpLocks/>
          </p:cNvCxnSpPr>
          <p:nvPr/>
        </p:nvCxnSpPr>
        <p:spPr>
          <a:xfrm>
            <a:off x="4819536" y="3517473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9F5D91-D875-15D6-CFE4-FF182ED1A217}"/>
              </a:ext>
            </a:extLst>
          </p:cNvPr>
          <p:cNvCxnSpPr>
            <a:cxnSpLocks/>
          </p:cNvCxnSpPr>
          <p:nvPr/>
        </p:nvCxnSpPr>
        <p:spPr>
          <a:xfrm>
            <a:off x="7051748" y="3463684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2EBBA2-D919-E976-9B95-A7640EA56F35}"/>
              </a:ext>
            </a:extLst>
          </p:cNvPr>
          <p:cNvCxnSpPr>
            <a:cxnSpLocks/>
          </p:cNvCxnSpPr>
          <p:nvPr/>
        </p:nvCxnSpPr>
        <p:spPr>
          <a:xfrm>
            <a:off x="9310853" y="3463684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80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1D7C7-01CF-7F0F-8762-2649DAF7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D63E-E955-B103-0661-4C17F564E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  <a:ea typeface="+mj-lt"/>
                <a:cs typeface="+mj-lt"/>
              </a:rPr>
              <a:t>Project Structuring</a:t>
            </a:r>
            <a:endParaRPr lang="en-US" sz="5400" dirty="0">
              <a:solidFill>
                <a:srgbClr val="3670A1"/>
              </a:solidFill>
              <a:latin typeface="Tw Cen M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5C5B04-87B0-296A-C7F5-816CDC48DA08}"/>
              </a:ext>
            </a:extLst>
          </p:cNvPr>
          <p:cNvSpPr txBox="1">
            <a:spLocks/>
          </p:cNvSpPr>
          <p:nvPr/>
        </p:nvSpPr>
        <p:spPr>
          <a:xfrm>
            <a:off x="1703135" y="1861488"/>
            <a:ext cx="3921512" cy="31381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python-de-project/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│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├── </a:t>
            </a:r>
            <a:r>
              <a:rPr lang="en-US" sz="2400" dirty="0" err="1">
                <a:latin typeface="Tw Cen MT"/>
                <a:ea typeface="+mj-lt"/>
                <a:cs typeface="+mj-lt"/>
              </a:rPr>
              <a:t>venv</a:t>
            </a:r>
            <a:r>
              <a:rPr lang="en-US" sz="2400" dirty="0">
                <a:latin typeface="Tw Cen MT"/>
                <a:ea typeface="+mj-lt"/>
                <a:cs typeface="+mj-lt"/>
              </a:rPr>
              <a:t>/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├── data/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│   └── raw/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├── </a:t>
            </a:r>
            <a:r>
              <a:rPr lang="en-US" sz="2400" dirty="0" err="1">
                <a:latin typeface="Tw Cen MT"/>
                <a:ea typeface="+mj-lt"/>
                <a:cs typeface="+mj-lt"/>
              </a:rPr>
              <a:t>src</a:t>
            </a:r>
            <a:r>
              <a:rPr lang="en-US" sz="2400" dirty="0">
                <a:latin typeface="Tw Cen MT"/>
                <a:ea typeface="+mj-lt"/>
                <a:cs typeface="+mj-lt"/>
              </a:rPr>
              <a:t>/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│   └── main.py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├── requirements.txt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└── README.md</a:t>
            </a:r>
            <a:endParaRPr lang="en-US" dirty="0"/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C88BB332-6643-20A3-F1B4-29D0C7C99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8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A78D-B750-0A7F-BAA3-F8E0B80B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AFD22-A179-71F3-23BA-5F4789191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</a:rPr>
              <a:t>Data Structures</a:t>
            </a: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E9658F98-DF64-83E2-8C6A-D1E3C2C37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57E3A7-5CAE-E4BC-9327-AA821F902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601603"/>
              </p:ext>
            </p:extLst>
          </p:nvPr>
        </p:nvGraphicFramePr>
        <p:xfrm>
          <a:off x="55755" y="1719146"/>
          <a:ext cx="12080196" cy="423875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91920">
                  <a:extLst>
                    <a:ext uri="{9D8B030D-6E8A-4147-A177-3AD203B41FA5}">
                      <a16:colId xmlns:a16="http://schemas.microsoft.com/office/drawing/2014/main" val="4221900437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519982216"/>
                    </a:ext>
                  </a:extLst>
                </a:gridCol>
                <a:gridCol w="1107437">
                  <a:extLst>
                    <a:ext uri="{9D8B030D-6E8A-4147-A177-3AD203B41FA5}">
                      <a16:colId xmlns:a16="http://schemas.microsoft.com/office/drawing/2014/main" val="2698211883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166699434"/>
                    </a:ext>
                  </a:extLst>
                </a:gridCol>
                <a:gridCol w="2214879">
                  <a:extLst>
                    <a:ext uri="{9D8B030D-6E8A-4147-A177-3AD203B41FA5}">
                      <a16:colId xmlns:a16="http://schemas.microsoft.com/office/drawing/2014/main" val="848578927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70211888"/>
                    </a:ext>
                  </a:extLst>
                </a:gridCol>
                <a:gridCol w="1971000">
                  <a:extLst>
                    <a:ext uri="{9D8B030D-6E8A-4147-A177-3AD203B41FA5}">
                      <a16:colId xmlns:a16="http://schemas.microsoft.com/office/drawing/2014/main" val="158607545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Data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Ordered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Duplicates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Key Characteristics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Typical DE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393012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[ 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Dynamic size, index-based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Rows, batches, sequences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007574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Tuple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(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Immutable, </a:t>
                      </a:r>
                      <a:r>
                        <a:rPr lang="en-US" err="1">
                          <a:latin typeface="Tw Cen MT"/>
                        </a:rPr>
                        <a:t>hashable</a:t>
                      </a:r>
                      <a:r>
                        <a:rPr lang="en-US" dirty="0">
                          <a:latin typeface="Tw Cen MT"/>
                        </a:rPr>
                        <a:t>, safe to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Fixed records, configs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930296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{ 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Unordered, unique elements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Deduplication, membership checks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274639"/>
                  </a:ext>
                </a:extLst>
              </a:tr>
              <a:tr h="831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Dictionary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{key: value}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✔ Yes*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❌ Keys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Key–value mapping, JSON-like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Records, schemas, configs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939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93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0E3C-CA33-94C2-6D5B-8BF24C7D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9EAA-10CF-7A7D-E2CC-7D30249CC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  <a:ea typeface="+mj-lt"/>
                <a:cs typeface="+mj-lt"/>
              </a:rPr>
              <a:t>Function Flow</a:t>
            </a:r>
            <a:endParaRPr lang="en-US" sz="5400" dirty="0">
              <a:solidFill>
                <a:srgbClr val="3670A1"/>
              </a:solidFill>
              <a:latin typeface="Tw Cen MT"/>
            </a:endParaRP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97A573A-C254-4829-38F8-5B3638FE4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544C1F-F953-508D-20F5-A3BDC7B23804}"/>
              </a:ext>
            </a:extLst>
          </p:cNvPr>
          <p:cNvSpPr/>
          <p:nvPr/>
        </p:nvSpPr>
        <p:spPr>
          <a:xfrm>
            <a:off x="2828808" y="3031881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Input Data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B10263-62B7-BD75-E55A-0A8345931975}"/>
              </a:ext>
            </a:extLst>
          </p:cNvPr>
          <p:cNvSpPr/>
          <p:nvPr/>
        </p:nvSpPr>
        <p:spPr>
          <a:xfrm>
            <a:off x="5087913" y="3031881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Function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C7A8E6-CAFF-4312-EA8B-072057FD2CF5}"/>
              </a:ext>
            </a:extLst>
          </p:cNvPr>
          <p:cNvSpPr/>
          <p:nvPr/>
        </p:nvSpPr>
        <p:spPr>
          <a:xfrm>
            <a:off x="7320125" y="3031881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E7F6AE-F825-8B27-A58D-31551CB03A4A}"/>
              </a:ext>
            </a:extLst>
          </p:cNvPr>
          <p:cNvCxnSpPr/>
          <p:nvPr/>
        </p:nvCxnSpPr>
        <p:spPr>
          <a:xfrm>
            <a:off x="4667137" y="3472650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787911-5049-6432-1458-1E0D7757ECD7}"/>
              </a:ext>
            </a:extLst>
          </p:cNvPr>
          <p:cNvCxnSpPr>
            <a:cxnSpLocks/>
          </p:cNvCxnSpPr>
          <p:nvPr/>
        </p:nvCxnSpPr>
        <p:spPr>
          <a:xfrm>
            <a:off x="6935207" y="3526438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346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90318-ECDB-071C-048A-E11B98FE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4670-5586-BF22-882F-BBFA02882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</a:rPr>
              <a:t>Pandas vs Spark vs SQL</a:t>
            </a: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77384111-BA58-F174-E2FA-F6FB3A25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4B208D-892D-4959-1FE0-253C30D43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150692"/>
              </p:ext>
            </p:extLst>
          </p:nvPr>
        </p:nvGraphicFramePr>
        <p:xfrm>
          <a:off x="0" y="1997926"/>
          <a:ext cx="12192000" cy="34914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154777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049775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25939105"/>
                    </a:ext>
                  </a:extLst>
                </a:gridCol>
              </a:tblGrid>
              <a:tr h="872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277263"/>
                  </a:ext>
                </a:extLst>
              </a:tr>
              <a:tr h="872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Single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Distributed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Engine-based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9101587"/>
                  </a:ext>
                </a:extLst>
              </a:tr>
              <a:tr h="872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In-memory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Cluster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Pushdown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1210867"/>
                  </a:ext>
                </a:extLst>
              </a:tr>
              <a:tr h="872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Small/Medium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Large / Very 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123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23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9B18-5B13-BB9C-6DE3-CD28854A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5F3A-2328-0709-6440-5AD627B35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  <a:ea typeface="+mj-lt"/>
                <a:cs typeface="+mj-lt"/>
              </a:rPr>
              <a:t>Exception Flow</a:t>
            </a:r>
            <a:endParaRPr lang="en-US" sz="5400" dirty="0">
              <a:solidFill>
                <a:srgbClr val="3670A1"/>
              </a:solidFill>
              <a:latin typeface="Tw Cen MT"/>
            </a:endParaRP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22673E4D-4037-3E5D-06C1-5E1EA4819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37E8F3-F963-CB69-C542-EB99E7C1A48F}"/>
              </a:ext>
            </a:extLst>
          </p:cNvPr>
          <p:cNvSpPr/>
          <p:nvPr/>
        </p:nvSpPr>
        <p:spPr>
          <a:xfrm>
            <a:off x="713137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Try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835F15-06FD-C339-DC67-75EB8A52E984}"/>
              </a:ext>
            </a:extLst>
          </p:cNvPr>
          <p:cNvSpPr/>
          <p:nvPr/>
        </p:nvSpPr>
        <p:spPr>
          <a:xfrm>
            <a:off x="2972242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Success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9939F0-E655-60AE-81CA-06404BBC3BB1}"/>
              </a:ext>
            </a:extLst>
          </p:cNvPr>
          <p:cNvSpPr/>
          <p:nvPr/>
        </p:nvSpPr>
        <p:spPr>
          <a:xfrm>
            <a:off x="5204454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Except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6FD020-BCAF-A5DF-7212-6F32EAD041C5}"/>
              </a:ext>
            </a:extLst>
          </p:cNvPr>
          <p:cNvSpPr/>
          <p:nvPr/>
        </p:nvSpPr>
        <p:spPr>
          <a:xfrm>
            <a:off x="7463559" y="3022916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Finally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97D407-1D0E-707D-B2C1-457DFAF477F1}"/>
              </a:ext>
            </a:extLst>
          </p:cNvPr>
          <p:cNvCxnSpPr/>
          <p:nvPr/>
        </p:nvCxnSpPr>
        <p:spPr>
          <a:xfrm>
            <a:off x="2551466" y="3463685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328C1D-E4D8-CE38-AAF3-A4980D1E9F0C}"/>
              </a:ext>
            </a:extLst>
          </p:cNvPr>
          <p:cNvCxnSpPr>
            <a:cxnSpLocks/>
          </p:cNvCxnSpPr>
          <p:nvPr/>
        </p:nvCxnSpPr>
        <p:spPr>
          <a:xfrm>
            <a:off x="4819536" y="3517473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F52048-A064-154D-843B-BE99C7D7FCDD}"/>
              </a:ext>
            </a:extLst>
          </p:cNvPr>
          <p:cNvCxnSpPr>
            <a:cxnSpLocks/>
          </p:cNvCxnSpPr>
          <p:nvPr/>
        </p:nvCxnSpPr>
        <p:spPr>
          <a:xfrm>
            <a:off x="7051748" y="3463684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1DB8D7-76E1-8C2E-9058-06EFB6B4AA93}"/>
              </a:ext>
            </a:extLst>
          </p:cNvPr>
          <p:cNvSpPr/>
          <p:nvPr/>
        </p:nvSpPr>
        <p:spPr>
          <a:xfrm>
            <a:off x="2972242" y="4439339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Continue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A36692-0BAA-57A8-3BAA-798A9FA1839B}"/>
              </a:ext>
            </a:extLst>
          </p:cNvPr>
          <p:cNvCxnSpPr>
            <a:cxnSpLocks/>
          </p:cNvCxnSpPr>
          <p:nvPr/>
        </p:nvCxnSpPr>
        <p:spPr>
          <a:xfrm>
            <a:off x="3869277" y="3920884"/>
            <a:ext cx="3320" cy="512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25306A-5561-0359-3877-BEC576ACD881}"/>
              </a:ext>
            </a:extLst>
          </p:cNvPr>
          <p:cNvSpPr/>
          <p:nvPr/>
        </p:nvSpPr>
        <p:spPr>
          <a:xfrm>
            <a:off x="5249277" y="4448303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Handle Error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6E9A82-64D5-5B48-04B2-09C46F5325C9}"/>
              </a:ext>
            </a:extLst>
          </p:cNvPr>
          <p:cNvCxnSpPr>
            <a:cxnSpLocks/>
          </p:cNvCxnSpPr>
          <p:nvPr/>
        </p:nvCxnSpPr>
        <p:spPr>
          <a:xfrm>
            <a:off x="6146312" y="3929848"/>
            <a:ext cx="3320" cy="512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7AFB63-222B-E71F-7CEA-BAD8DD89962F}"/>
              </a:ext>
            </a:extLst>
          </p:cNvPr>
          <p:cNvSpPr/>
          <p:nvPr/>
        </p:nvSpPr>
        <p:spPr>
          <a:xfrm>
            <a:off x="7499418" y="4448303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Cleanup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900F30-B932-9AA6-D764-FFA141F2D2BA}"/>
              </a:ext>
            </a:extLst>
          </p:cNvPr>
          <p:cNvCxnSpPr>
            <a:cxnSpLocks/>
          </p:cNvCxnSpPr>
          <p:nvPr/>
        </p:nvCxnSpPr>
        <p:spPr>
          <a:xfrm>
            <a:off x="8396453" y="3929848"/>
            <a:ext cx="3320" cy="512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96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8E63-5669-3BA3-59E7-59D29EDE5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DA20-46FB-B4C5-5C9E-1B0B7CBF7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</a:rPr>
              <a:t>Log Levels</a:t>
            </a: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A76A2FFC-3058-90B8-5F66-C47D7315A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33E345-9347-2EE1-561A-A326DAD6E598}"/>
              </a:ext>
            </a:extLst>
          </p:cNvPr>
          <p:cNvSpPr txBox="1"/>
          <p:nvPr/>
        </p:nvSpPr>
        <p:spPr>
          <a:xfrm>
            <a:off x="1214801" y="1838328"/>
            <a:ext cx="858961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DEBUG – developer details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w Cen MT"/>
              </a:rPr>
              <a:t>INFO – pipeline progress</a:t>
            </a: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WARNING – something odd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ERROR – task failed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CRITICAL – system failure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2CA29C-3504-A803-1063-96C961621282}"/>
              </a:ext>
            </a:extLst>
          </p:cNvPr>
          <p:cNvCxnSpPr/>
          <p:nvPr/>
        </p:nvCxnSpPr>
        <p:spPr>
          <a:xfrm>
            <a:off x="5188936" y="1840150"/>
            <a:ext cx="41179" cy="2576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E2B0712-B537-D442-D5DE-97858A1E01FA}"/>
              </a:ext>
            </a:extLst>
          </p:cNvPr>
          <p:cNvSpPr txBox="1"/>
          <p:nvPr/>
        </p:nvSpPr>
        <p:spPr>
          <a:xfrm>
            <a:off x="5557987" y="30208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w Cen MT"/>
              </a:rPr>
              <a:t>Severity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2BF527-11FC-A076-C0A5-0869F5BF3151}"/>
              </a:ext>
            </a:extLst>
          </p:cNvPr>
          <p:cNvSpPr txBox="1"/>
          <p:nvPr/>
        </p:nvSpPr>
        <p:spPr>
          <a:xfrm>
            <a:off x="5405586" y="42400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w Cen MT"/>
              </a:rPr>
              <a:t>High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35D235-1099-2F5D-ACCC-EC8521D7D1F8}"/>
              </a:ext>
            </a:extLst>
          </p:cNvPr>
          <p:cNvSpPr txBox="1"/>
          <p:nvPr/>
        </p:nvSpPr>
        <p:spPr>
          <a:xfrm>
            <a:off x="5271116" y="171203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w Cen MT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181382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7471-3D42-A261-C0E7-021BFDE8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0B9A0-8194-8551-DD2F-BE90E549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</a:rPr>
              <a:t>Python – Snowflake Flow</a:t>
            </a: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D4A478EE-43B9-A5B8-7114-BF291CDA2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FF5816-221E-A411-90AB-3472F6F67020}"/>
              </a:ext>
            </a:extLst>
          </p:cNvPr>
          <p:cNvSpPr/>
          <p:nvPr/>
        </p:nvSpPr>
        <p:spPr>
          <a:xfrm>
            <a:off x="2004055" y="3058775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Python Code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F1994D-5BC2-9E31-4235-EB052C4C3908}"/>
              </a:ext>
            </a:extLst>
          </p:cNvPr>
          <p:cNvSpPr/>
          <p:nvPr/>
        </p:nvSpPr>
        <p:spPr>
          <a:xfrm>
            <a:off x="4263160" y="3058775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Snowflake Driver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034064-2D17-205C-C561-E9CB72B8827F}"/>
              </a:ext>
            </a:extLst>
          </p:cNvPr>
          <p:cNvSpPr/>
          <p:nvPr/>
        </p:nvSpPr>
        <p:spPr>
          <a:xfrm>
            <a:off x="6495372" y="3058775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Snowflake Engine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C9A16B-9653-7C70-057C-84E8FA72CBD8}"/>
              </a:ext>
            </a:extLst>
          </p:cNvPr>
          <p:cNvSpPr/>
          <p:nvPr/>
        </p:nvSpPr>
        <p:spPr>
          <a:xfrm>
            <a:off x="8754477" y="3058775"/>
            <a:ext cx="1849079" cy="8922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Tables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F33A53-BC6B-124E-4C75-ECCC29E94755}"/>
              </a:ext>
            </a:extLst>
          </p:cNvPr>
          <p:cNvCxnSpPr/>
          <p:nvPr/>
        </p:nvCxnSpPr>
        <p:spPr>
          <a:xfrm>
            <a:off x="3842384" y="3499544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FFBFEE-A641-E19B-00D0-826D9573D970}"/>
              </a:ext>
            </a:extLst>
          </p:cNvPr>
          <p:cNvCxnSpPr>
            <a:cxnSpLocks/>
          </p:cNvCxnSpPr>
          <p:nvPr/>
        </p:nvCxnSpPr>
        <p:spPr>
          <a:xfrm>
            <a:off x="6110454" y="3553332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935FA3-9C06-53B8-E10C-250DF0DD652A}"/>
              </a:ext>
            </a:extLst>
          </p:cNvPr>
          <p:cNvCxnSpPr>
            <a:cxnSpLocks/>
          </p:cNvCxnSpPr>
          <p:nvPr/>
        </p:nvCxnSpPr>
        <p:spPr>
          <a:xfrm>
            <a:off x="8342666" y="3499543"/>
            <a:ext cx="397767" cy="10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13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9DAA-0EC7-211E-A5BC-888E0F66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2FA4-7D50-BBDE-BFDA-3068C7C92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</a:rPr>
              <a:t>REST Basics</a:t>
            </a:r>
            <a:endParaRPr lang="en-US" dirty="0"/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782D98F2-CBE1-862D-EA6E-F62845B8B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560000">
            <a:off x="9983647" y="31494"/>
            <a:ext cx="2043389" cy="18267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F205FB-376C-F95D-5712-E5E6C9280AED}"/>
              </a:ext>
            </a:extLst>
          </p:cNvPr>
          <p:cNvSpPr txBox="1"/>
          <p:nvPr/>
        </p:nvSpPr>
        <p:spPr>
          <a:xfrm>
            <a:off x="1062401" y="2412069"/>
            <a:ext cx="858961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GET – fetch data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POST – send data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PUT/PATCH – update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Tw Cen M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w Cen MT"/>
              </a:rPr>
              <a:t>DELETE – remove</a:t>
            </a:r>
          </a:p>
        </p:txBody>
      </p:sp>
    </p:spTree>
    <p:extLst>
      <p:ext uri="{BB962C8B-B14F-4D97-AF65-F5344CB8AC3E}">
        <p14:creationId xmlns:p14="http://schemas.microsoft.com/office/powerpoint/2010/main" val="2019809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3F22-0F9B-C850-2A51-34C1FF82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3545-8195-0308-CF63-44BBF1FA4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42"/>
            <a:ext cx="9144000" cy="83858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  <a:ea typeface="+mj-lt"/>
                <a:cs typeface="+mj-lt"/>
              </a:rPr>
              <a:t>Class Structure</a:t>
            </a:r>
            <a:endParaRPr lang="en-US" sz="5400" dirty="0">
              <a:solidFill>
                <a:srgbClr val="3670A1"/>
              </a:solidFill>
              <a:latin typeface="Tw Cen M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46A804-CCD6-BD3D-114B-554AAE45CF17}"/>
              </a:ext>
            </a:extLst>
          </p:cNvPr>
          <p:cNvSpPr txBox="1">
            <a:spLocks/>
          </p:cNvSpPr>
          <p:nvPr/>
        </p:nvSpPr>
        <p:spPr>
          <a:xfrm>
            <a:off x="1523841" y="2103535"/>
            <a:ext cx="3921512" cy="22327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err="1">
                <a:latin typeface="Tw Cen MT"/>
              </a:rPr>
              <a:t>DataPipeline</a:t>
            </a:r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│</a:t>
            </a:r>
            <a:endParaRPr lang="en-US" dirty="0"/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├── </a:t>
            </a:r>
            <a:r>
              <a:rPr lang="en-US" sz="2400" dirty="0" err="1">
                <a:latin typeface="Tw Cen MT"/>
                <a:ea typeface="+mj-lt"/>
                <a:cs typeface="+mj-lt"/>
              </a:rPr>
              <a:t>Extract_data</a:t>
            </a:r>
            <a:r>
              <a:rPr lang="en-US" sz="2400" dirty="0">
                <a:latin typeface="Tw Cen MT"/>
                <a:ea typeface="+mj-lt"/>
                <a:cs typeface="+mj-lt"/>
              </a:rPr>
              <a:t>()</a:t>
            </a:r>
            <a:endParaRPr lang="en-US" dirty="0">
              <a:latin typeface="Neue Haas Grotesk Text Pro"/>
              <a:ea typeface="+mj-lt"/>
              <a:cs typeface="+mj-lt"/>
            </a:endParaRPr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├── </a:t>
            </a:r>
            <a:r>
              <a:rPr lang="en-US" sz="2400" dirty="0" err="1">
                <a:latin typeface="Tw Cen MT"/>
                <a:ea typeface="+mj-lt"/>
                <a:cs typeface="+mj-lt"/>
              </a:rPr>
              <a:t>Transform_data</a:t>
            </a:r>
            <a:r>
              <a:rPr lang="en-US" sz="2400" dirty="0">
                <a:latin typeface="Tw Cen MT"/>
                <a:ea typeface="+mj-lt"/>
                <a:cs typeface="+mj-lt"/>
              </a:rPr>
              <a:t>()</a:t>
            </a:r>
            <a:endParaRPr lang="en-US" sz="2400" dirty="0">
              <a:latin typeface="Tw Cen MT"/>
            </a:endParaRPr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├── </a:t>
            </a:r>
            <a:r>
              <a:rPr lang="en-US" sz="2400" dirty="0" err="1">
                <a:latin typeface="Tw Cen MT"/>
                <a:ea typeface="+mj-lt"/>
                <a:cs typeface="+mj-lt"/>
              </a:rPr>
              <a:t>Load_data</a:t>
            </a:r>
            <a:r>
              <a:rPr lang="en-US" sz="2400" dirty="0">
                <a:latin typeface="Tw Cen MT"/>
                <a:ea typeface="+mj-lt"/>
                <a:cs typeface="+mj-lt"/>
              </a:rPr>
              <a:t>()</a:t>
            </a:r>
            <a:endParaRPr lang="en-US" dirty="0">
              <a:latin typeface="Neue Haas Grotesk Text Pro"/>
              <a:ea typeface="+mj-lt"/>
              <a:cs typeface="+mj-lt"/>
            </a:endParaRPr>
          </a:p>
          <a:p>
            <a:pPr algn="l"/>
            <a:r>
              <a:rPr lang="en-US" sz="2400" dirty="0">
                <a:latin typeface="Tw Cen MT"/>
                <a:ea typeface="+mj-lt"/>
                <a:cs typeface="+mj-lt"/>
              </a:rPr>
              <a:t>└── run()</a:t>
            </a:r>
            <a:endParaRPr lang="en-US" sz="2400" dirty="0">
              <a:latin typeface="Tw Cen MT"/>
            </a:endParaRP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893B21F-8971-A114-68A2-47B634732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13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078E-3682-1192-3EF0-96B059BC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2BC24-3018-FDE2-25F3-0EBA4219F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906" y="257142"/>
            <a:ext cx="9144000" cy="838582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3670A1"/>
                </a:solidFill>
                <a:latin typeface="Tw Cen MT"/>
              </a:rPr>
              <a:t>Multithreading vs Multiprocessing</a:t>
            </a: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F6C387CD-34D1-6E7B-9158-550C9056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040000">
            <a:off x="9983647" y="31494"/>
            <a:ext cx="2043389" cy="182676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342511-E7DB-44EA-5F12-E67F1E2B3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56591"/>
              </p:ext>
            </p:extLst>
          </p:nvPr>
        </p:nvGraphicFramePr>
        <p:xfrm>
          <a:off x="1174376" y="2114467"/>
          <a:ext cx="8128000" cy="34914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154777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04977539"/>
                    </a:ext>
                  </a:extLst>
                </a:gridCol>
              </a:tblGrid>
              <a:tr h="8728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baseline="0" noProof="0" dirty="0">
                          <a:solidFill>
                            <a:srgbClr val="FFFFFF"/>
                          </a:solidFill>
                          <a:latin typeface="Tw Cen MT"/>
                        </a:rPr>
                        <a:t>Multithreading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baseline="0" noProof="0" dirty="0">
                          <a:solidFill>
                            <a:srgbClr val="FFFFFF"/>
                          </a:solidFill>
                          <a:latin typeface="Tw Cen MT"/>
                        </a:rPr>
                        <a:t>Multiprocessing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277263"/>
                  </a:ext>
                </a:extLst>
              </a:tr>
              <a:tr h="872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One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Multiple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9101587"/>
                  </a:ext>
                </a:extLst>
              </a:tr>
              <a:tr h="872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Shared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Separate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1210867"/>
                  </a:ext>
                </a:extLst>
              </a:tr>
              <a:tr h="872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Global Interpreter lock(GIL) bottleneck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w Cen MT"/>
                        </a:rPr>
                        <a:t>True parallelism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123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47921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VanillaVTI</vt:lpstr>
      <vt:lpstr>Python</vt:lpstr>
      <vt:lpstr>Python</vt:lpstr>
      <vt:lpstr>Where Python Sits</vt:lpstr>
      <vt:lpstr>Project Structuring</vt:lpstr>
      <vt:lpstr>Data Structures</vt:lpstr>
      <vt:lpstr>Function Flow</vt:lpstr>
      <vt:lpstr>Pandas vs Spark vs SQL</vt:lpstr>
      <vt:lpstr>Exception Flow</vt:lpstr>
      <vt:lpstr>Log Levels</vt:lpstr>
      <vt:lpstr>Python – Snowflake Flow</vt:lpstr>
      <vt:lpstr>REST Basics</vt:lpstr>
      <vt:lpstr>Class Structure</vt:lpstr>
      <vt:lpstr>Multithreading vs Multiprocessing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274</cp:revision>
  <dcterms:created xsi:type="dcterms:W3CDTF">2025-12-31T08:38:32Z</dcterms:created>
  <dcterms:modified xsi:type="dcterms:W3CDTF">2026-01-08T07:04:02Z</dcterms:modified>
</cp:coreProperties>
</file>